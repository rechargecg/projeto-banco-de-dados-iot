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  <p:sldMasterId id="214748366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y="6858000" cx="9144000"/>
  <p:notesSz cx="6858000" cy="9144000"/>
  <p:embeddedFontLs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3A00B4-C3E9-40C0-BD80-621ED19D6759}">
  <a:tblStyle styleId="{443A00B4-C3E9-40C0-BD80-621ED19D67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2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5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4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dd3058f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dd3058fd3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dd3058fd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dd3058fd3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dd3058fd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dd3058fd3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dd3058fd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dd3058fd3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dd3058fd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9dd3058fd3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dd3058fd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dd3058fd3_0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f15a7be4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f15a7be4b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f15a7be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af15a7be4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f15a7be4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af15a7be4b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f15a7be4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af15a7be4b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dd3058fd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dd3058fd3_0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dd3058fd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9dd3058fd3_0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dd3058fd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dd3058fd3_0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f15a7be4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af15a7be4b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dd3058fd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9dd3058fd3_0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dd3058fd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9dd3058fd3_0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dfc3a187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9dfc3a1878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dd3058fd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9dd3058fd3_0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dfc3a187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9dfc3a1878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dfc3a187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9dfc3a1878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>
  <p:cSld name="Em branco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179512" y="188640"/>
            <a:ext cx="6192688" cy="86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205867"/>
              </a:buClr>
              <a:buSzPts val="3200"/>
              <a:buChar char="•"/>
              <a:defRPr>
                <a:solidFill>
                  <a:srgbClr val="205867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205867"/>
              </a:buClr>
              <a:buSzPts val="2800"/>
              <a:buChar char="–"/>
              <a:defRPr>
                <a:solidFill>
                  <a:srgbClr val="205867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205867"/>
              </a:buClr>
              <a:buSzPts val="2400"/>
              <a:buChar char="•"/>
              <a:defRPr>
                <a:solidFill>
                  <a:srgbClr val="205867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205867"/>
              </a:buClr>
              <a:buSzPts val="2000"/>
              <a:buChar char="–"/>
              <a:defRPr>
                <a:solidFill>
                  <a:srgbClr val="205867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205867"/>
              </a:buClr>
              <a:buSzPts val="2000"/>
              <a:buChar char="»"/>
              <a:defRPr>
                <a:solidFill>
                  <a:srgbClr val="205867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_curso_internet_coisas_cor.png" id="80" name="Google Shape;80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516687" y="133350"/>
            <a:ext cx="2447925" cy="9921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2"/>
          <p:cNvCxnSpPr/>
          <p:nvPr/>
        </p:nvCxnSpPr>
        <p:spPr>
          <a:xfrm>
            <a:off x="1403350" y="1268412"/>
            <a:ext cx="7667625" cy="0"/>
          </a:xfrm>
          <a:prstGeom prst="straightConnector1">
            <a:avLst/>
          </a:prstGeom>
          <a:noFill/>
          <a:ln cap="flat" cmpd="sng" w="25400">
            <a:solidFill>
              <a:srgbClr val="F7964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" name="Google Shape;82;p12"/>
          <p:cNvSpPr txBox="1"/>
          <p:nvPr/>
        </p:nvSpPr>
        <p:spPr>
          <a:xfrm>
            <a:off x="6443662" y="0"/>
            <a:ext cx="2700337" cy="1196975"/>
          </a:xfrm>
          <a:prstGeom prst="rect">
            <a:avLst/>
          </a:prstGeom>
          <a:solidFill>
            <a:schemeClr val="lt1">
              <a:alpha val="4156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_curso_internet_coisas_cor.png" id="95" name="Google Shape;95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516687" y="133350"/>
            <a:ext cx="2447925" cy="9921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4"/>
          <p:cNvCxnSpPr/>
          <p:nvPr/>
        </p:nvCxnSpPr>
        <p:spPr>
          <a:xfrm>
            <a:off x="1403350" y="1268412"/>
            <a:ext cx="7667625" cy="0"/>
          </a:xfrm>
          <a:prstGeom prst="straightConnector1">
            <a:avLst/>
          </a:prstGeom>
          <a:noFill/>
          <a:ln cap="flat" cmpd="sng" w="25400">
            <a:solidFill>
              <a:srgbClr val="F7964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7" name="Google Shape;97;p14"/>
          <p:cNvSpPr txBox="1"/>
          <p:nvPr/>
        </p:nvSpPr>
        <p:spPr>
          <a:xfrm>
            <a:off x="6443662" y="0"/>
            <a:ext cx="2700337" cy="1196975"/>
          </a:xfrm>
          <a:prstGeom prst="rect">
            <a:avLst/>
          </a:prstGeom>
          <a:solidFill>
            <a:schemeClr val="lt1">
              <a:alpha val="4156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_curso_internet_coisas_cor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25" y="115887"/>
            <a:ext cx="246697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269875" y="1808400"/>
            <a:ext cx="8785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Criação e Testes de Bancos de Dados SQL e NoSQL para um Sistema de Monitoramento para Manutenção Preditiva de Veículos Autônomos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-88900" y="3716337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Richard Coelho Gomes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Disciplina: Banco de Dados para Internet das Coisas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79387" y="368300"/>
            <a:ext cx="388778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C09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AC090"/>
                </a:solidFill>
                <a:latin typeface="Calibri"/>
                <a:ea typeface="Calibri"/>
                <a:cs typeface="Calibri"/>
                <a:sym typeface="Calibri"/>
              </a:rPr>
              <a:t>Curso de Mestrado em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C09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AC090"/>
                </a:solidFill>
                <a:latin typeface="Calibri"/>
                <a:ea typeface="Calibri"/>
                <a:cs typeface="Calibri"/>
                <a:sym typeface="Calibri"/>
              </a:rPr>
              <a:t>Internet das Coisas do Campus Leopoldina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15968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15968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15968"/>
                </a:solidFill>
                <a:latin typeface="Calibri"/>
                <a:ea typeface="Calibri"/>
                <a:cs typeface="Calibri"/>
                <a:sym typeface="Calibri"/>
              </a:rPr>
              <a:t>Descrição dos dados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15968"/>
                </a:solidFill>
                <a:latin typeface="Calibri"/>
                <a:ea typeface="Calibri"/>
                <a:cs typeface="Calibri"/>
                <a:sym typeface="Calibri"/>
              </a:rPr>
              <a:t>Operações sobre os bancos de dados</a:t>
            </a:r>
            <a:endParaRPr sz="3200">
              <a:solidFill>
                <a:srgbClr val="2159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15968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sz="3200">
              <a:solidFill>
                <a:srgbClr val="2159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3200" u="none">
              <a:solidFill>
                <a:srgbClr val="2159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179387" y="188912"/>
            <a:ext cx="6192837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Tópicos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457200" y="1600200"/>
            <a:ext cx="8229600" cy="5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20278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7668"/>
              <a:buChar char="•"/>
            </a:pPr>
            <a:r>
              <a:rPr lang="en-US" sz="5190">
                <a:solidFill>
                  <a:srgbClr val="215968"/>
                </a:solidFill>
              </a:rPr>
              <a:t>Contextualização</a:t>
            </a:r>
            <a:r>
              <a:rPr lang="en-US" sz="4550">
                <a:solidFill>
                  <a:srgbClr val="215968"/>
                </a:solidFill>
              </a:rPr>
              <a:t>:</a:t>
            </a:r>
            <a:endParaRPr sz="4550">
              <a:solidFill>
                <a:srgbClr val="21596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50">
              <a:solidFill>
                <a:srgbClr val="215968"/>
              </a:solidFill>
            </a:endParaRPr>
          </a:p>
          <a:p>
            <a:pPr indent="-288528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 sz="4550">
                <a:solidFill>
                  <a:srgbClr val="215968"/>
                </a:solidFill>
              </a:rPr>
              <a:t>Veículos desempenham papel central no cotidiano global, com impacto direto na mobilidade, transporte de cargas e até eventos esportivos.</a:t>
            </a:r>
            <a:endParaRPr sz="4550">
              <a:solidFill>
                <a:srgbClr val="21596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50">
              <a:solidFill>
                <a:srgbClr val="215968"/>
              </a:solidFill>
            </a:endParaRPr>
          </a:p>
          <a:p>
            <a:pPr indent="-288528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 sz="4550">
                <a:solidFill>
                  <a:srgbClr val="215968"/>
                </a:solidFill>
              </a:rPr>
              <a:t>Com o avanço da tecnologia de veículos, surgiram os veículos autônomos, apresentando uma crescente busca por conforto e segurança, assim  evidenciando as manutenções preditivas.</a:t>
            </a:r>
            <a:endParaRPr sz="4550">
              <a:solidFill>
                <a:srgbClr val="215968"/>
              </a:solidFill>
            </a:endParaRPr>
          </a:p>
          <a:p>
            <a:pPr indent="0" lvl="0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50">
              <a:solidFill>
                <a:srgbClr val="215968"/>
              </a:solidFill>
            </a:endParaRPr>
          </a:p>
          <a:p>
            <a:pPr indent="-288528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en-US" sz="4550">
                <a:solidFill>
                  <a:srgbClr val="215968"/>
                </a:solidFill>
              </a:rPr>
              <a:t>Sensores embarcados em veículos coletam dados operacionais vitais, como nível de combustível, desgaste de peças e condições de operação.</a:t>
            </a:r>
            <a:endParaRPr sz="4550">
              <a:solidFill>
                <a:srgbClr val="215968"/>
              </a:solidFill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3200" u="none">
              <a:solidFill>
                <a:srgbClr val="2159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Problema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57200" y="1600200"/>
            <a:ext cx="8229600" cy="5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407937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•"/>
            </a:pPr>
            <a:r>
              <a:rPr lang="en-US" sz="7060">
                <a:solidFill>
                  <a:srgbClr val="215968"/>
                </a:solidFill>
              </a:rPr>
              <a:t> Um sistema para gerenciar a geração de dados de status de sensores de veículos autônomos, o que exige soluções eficientes de armazenamento e gerenciamento, capazes de lidar com dados volumosos.</a:t>
            </a:r>
            <a:endParaRPr sz="7060">
              <a:solidFill>
                <a:srgbClr val="215968"/>
              </a:solidFill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7060">
              <a:solidFill>
                <a:srgbClr val="215968"/>
              </a:solidFill>
            </a:endParaRPr>
          </a:p>
          <a:p>
            <a:pPr indent="-407937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•"/>
            </a:pPr>
            <a:r>
              <a:rPr lang="en-US" sz="7060">
                <a:solidFill>
                  <a:srgbClr val="215968"/>
                </a:solidFill>
              </a:rPr>
              <a:t>O sistema de monitoramento é uma solução de IoT que transforma esses dados em métricas úteis:</a:t>
            </a:r>
            <a:endParaRPr sz="7060">
              <a:solidFill>
                <a:srgbClr val="215968"/>
              </a:solidFill>
            </a:endParaRPr>
          </a:p>
          <a:p>
            <a:pPr indent="-407937" lvl="1" marL="13716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–"/>
            </a:pPr>
            <a:r>
              <a:rPr lang="en-US" sz="7060">
                <a:solidFill>
                  <a:srgbClr val="215968"/>
                </a:solidFill>
              </a:rPr>
              <a:t>Para proprietários: alertas de manutenção.</a:t>
            </a:r>
            <a:endParaRPr sz="7060">
              <a:solidFill>
                <a:srgbClr val="215968"/>
              </a:solidFill>
            </a:endParaRPr>
          </a:p>
          <a:p>
            <a:pPr indent="-407937" lvl="1" marL="13716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–"/>
            </a:pPr>
            <a:r>
              <a:rPr lang="en-US" sz="7060">
                <a:solidFill>
                  <a:srgbClr val="215968"/>
                </a:solidFill>
              </a:rPr>
              <a:t>Para fabricantes: informações reais de uso e durabilidade dos componentes.</a:t>
            </a:r>
            <a:endParaRPr sz="7060">
              <a:solidFill>
                <a:srgbClr val="215968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5190">
              <a:solidFill>
                <a:srgbClr val="215968"/>
              </a:solidFill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1657"/>
              <a:buFont typeface="Arial"/>
              <a:buNone/>
            </a:pPr>
            <a:r>
              <a:t/>
            </a:r>
            <a:endParaRPr sz="5190">
              <a:solidFill>
                <a:srgbClr val="215968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Problema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457200" y="1600200"/>
            <a:ext cx="8229600" cy="4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431006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•"/>
            </a:pPr>
            <a:r>
              <a:rPr lang="en-US" sz="3750">
                <a:solidFill>
                  <a:srgbClr val="215968"/>
                </a:solidFill>
              </a:rPr>
              <a:t>Foco do Trabalho:</a:t>
            </a:r>
            <a:endParaRPr sz="3750">
              <a:solidFill>
                <a:srgbClr val="215968"/>
              </a:solidFill>
            </a:endParaRPr>
          </a:p>
          <a:p>
            <a:pPr indent="-406996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–"/>
            </a:pPr>
            <a:r>
              <a:rPr lang="en-US" sz="3305">
                <a:solidFill>
                  <a:srgbClr val="215968"/>
                </a:solidFill>
              </a:rPr>
              <a:t>O sistema completo não será desenvolvido, mas sim simulada a camada de dados, criando e avaliando bancos SQL (MySQL) e NoSQL (MongoDB).</a:t>
            </a:r>
            <a:endParaRPr sz="3305">
              <a:solidFill>
                <a:srgbClr val="215968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305">
              <a:solidFill>
                <a:srgbClr val="215968"/>
              </a:solidFill>
            </a:endParaRPr>
          </a:p>
          <a:p>
            <a:pPr indent="-406996" lvl="0" marL="9144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•"/>
            </a:pPr>
            <a:r>
              <a:rPr lang="en-US" sz="3305">
                <a:solidFill>
                  <a:srgbClr val="215968"/>
                </a:solidFill>
              </a:rPr>
              <a:t>O objetivo é comparar a viabilidade e o desempenho de cada abordagem no contexto proposto, identificando qual modelo de banco é mais adequado para o gerenciamento dos dados gerados por esse tipo de aplicação.</a:t>
            </a:r>
            <a:endParaRPr sz="3305">
              <a:solidFill>
                <a:srgbClr val="215968"/>
              </a:solidFill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Descrição dos dados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457200" y="1600200"/>
            <a:ext cx="8229600" cy="50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Fontes de Dados Utilizados no Projeto</a:t>
            </a:r>
            <a:endParaRPr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O</a:t>
            </a:r>
            <a:r>
              <a:rPr lang="en-US">
                <a:solidFill>
                  <a:srgbClr val="215968"/>
                </a:solidFill>
              </a:rPr>
              <a:t> projeto se trata apenas de uma simulação, então os dados serão falsos, apenas </a:t>
            </a:r>
            <a:r>
              <a:rPr lang="en-US">
                <a:solidFill>
                  <a:srgbClr val="215968"/>
                </a:solidFill>
              </a:rPr>
              <a:t>a fim</a:t>
            </a:r>
            <a:r>
              <a:rPr lang="en-US">
                <a:solidFill>
                  <a:srgbClr val="215968"/>
                </a:solidFill>
              </a:rPr>
              <a:t> de realizar os testes dos bancos de dados.</a:t>
            </a:r>
            <a:endParaRPr>
              <a:solidFill>
                <a:srgbClr val="215968"/>
              </a:solidFill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5968"/>
              </a:solidFill>
            </a:endParaRPr>
          </a:p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Tipos de dados</a:t>
            </a:r>
            <a:endParaRPr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Os dados terão tipos simples, como valores inteiros, flutuantes, string</a:t>
            </a:r>
            <a:r>
              <a:rPr lang="en-US">
                <a:solidFill>
                  <a:srgbClr val="215968"/>
                </a:solidFill>
              </a:rPr>
              <a:t>s </a:t>
            </a:r>
            <a:r>
              <a:rPr lang="en-US">
                <a:solidFill>
                  <a:srgbClr val="215968"/>
                </a:solidFill>
              </a:rPr>
              <a:t>e arrays dos tipos anteriores, além de tipos para data e hora. Em seguida, uma tabela com a disponibilização dos dados no para ambos os bancos.</a:t>
            </a:r>
            <a:endParaRPr>
              <a:solidFill>
                <a:srgbClr val="215968"/>
              </a:solidFill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Descrição dos dados (MongoDB)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aphicFrame>
        <p:nvGraphicFramePr>
          <p:cNvPr id="167" name="Google Shape;167;p22"/>
          <p:cNvGraphicFramePr/>
          <p:nvPr/>
        </p:nvGraphicFramePr>
        <p:xfrm>
          <a:off x="1525475" y="180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447800"/>
                <a:gridCol w="1457325"/>
                <a:gridCol w="1162050"/>
                <a:gridCol w="1581150"/>
              </a:tblGrid>
              <a:tr h="4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Collections</a:t>
                      </a:r>
                      <a:endParaRPr b="1" i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Atributos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 de dado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85750">
                <a:tc rowSpan="10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veiculos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_id (VIN)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marca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7435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modelo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nivel_autonomia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tipo_propulsao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data_de_fabricacao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DATETIME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sensores_config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versao_hw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local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ult_calibracao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DATETIME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Descrição dos dados (MongoDB)</a:t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75" name="Google Shape;175;p2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aphicFrame>
        <p:nvGraphicFramePr>
          <p:cNvPr id="176" name="Google Shape;176;p23"/>
          <p:cNvGraphicFramePr/>
          <p:nvPr/>
        </p:nvGraphicFramePr>
        <p:xfrm>
          <a:off x="1580950" y="152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447800"/>
                <a:gridCol w="1457325"/>
                <a:gridCol w="1162050"/>
                <a:gridCol w="1581150"/>
              </a:tblGrid>
              <a:tr h="4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Collections</a:t>
                      </a:r>
                      <a:endParaRPr b="1" i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Atributos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 de dado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row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telemetrias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id_veiculo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timestamp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DATETIME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tempo_ativo_segundos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quilometragem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velocidade_kmh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nivel_bateria_percentual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nivel_combustivel_percentual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row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diagnostico_sensores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nome_sensor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status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taxa_erros_pct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FLOAT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temp_operacao_c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FLOAT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cod_falha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Descrição dos dados (MySQL)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aphicFrame>
        <p:nvGraphicFramePr>
          <p:cNvPr id="185" name="Google Shape;185;p24"/>
          <p:cNvGraphicFramePr/>
          <p:nvPr/>
        </p:nvGraphicFramePr>
        <p:xfrm>
          <a:off x="1747825" y="228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495425"/>
                <a:gridCol w="1409700"/>
                <a:gridCol w="1162050"/>
                <a:gridCol w="1581150"/>
              </a:tblGrid>
              <a:tr h="4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Tabelas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Atributos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 de dado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85750">
                <a:tc row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Veiculos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veiculo_id (VIN)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VARCHAR(30)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modelo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VARCHAR(100)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7435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marca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VARCHAR(50)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nivel_autonomia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TINYINT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tipo_propulsao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ENUM('Eletrico', 'Combustao', 'Hibrido')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data_de_fabricacao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DATETIME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Descrição dos dados (MySQL)</a:t>
            </a: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aphicFrame>
        <p:nvGraphicFramePr>
          <p:cNvPr id="194" name="Google Shape;194;p25"/>
          <p:cNvGraphicFramePr/>
          <p:nvPr/>
        </p:nvGraphicFramePr>
        <p:xfrm>
          <a:off x="1747838" y="250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495425"/>
                <a:gridCol w="1409700"/>
                <a:gridCol w="1162050"/>
                <a:gridCol w="1581150"/>
              </a:tblGrid>
              <a:tr h="4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Tabelas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Atributos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 de dado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row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Configuracao_Sensores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config_id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BIGINT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versao_hw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local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STRING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ult_calibracao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DATETIME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fk_Veiculos_veiculo_id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VARCHAR(30)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Descrição dos dados (MySQL)</a:t>
            </a:r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aphicFrame>
        <p:nvGraphicFramePr>
          <p:cNvPr id="203" name="Google Shape;203;p26"/>
          <p:cNvGraphicFramePr/>
          <p:nvPr/>
        </p:nvGraphicFramePr>
        <p:xfrm>
          <a:off x="1747838" y="222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495425"/>
                <a:gridCol w="1409700"/>
                <a:gridCol w="1162050"/>
                <a:gridCol w="1581150"/>
              </a:tblGrid>
              <a:tr h="4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Tabelas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Atributos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 de dado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Telemetrias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leitura_id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BIGINT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quilometragem_km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DECIMAL(10, 2)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velocidade_kph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DECIMAL(5, 2)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nivel_bateria_pct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TINYINT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nivel_combustivel_pct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TINYINT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tempo_ativo_segundos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fk_Veiculos_veiculo_id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VARCHAR(30)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/>
              <a:t>Descrição dos dados (MySQL)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0" name="Google Shape;210;p27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aphicFrame>
        <p:nvGraphicFramePr>
          <p:cNvPr id="212" name="Google Shape;212;p27"/>
          <p:cNvGraphicFramePr/>
          <p:nvPr/>
        </p:nvGraphicFramePr>
        <p:xfrm>
          <a:off x="1747838" y="214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495425"/>
                <a:gridCol w="1409700"/>
                <a:gridCol w="1162050"/>
                <a:gridCol w="1581150"/>
              </a:tblGrid>
              <a:tr h="45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Tabelas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Atributos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Tipo de dado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Diagnostico_Sensores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diagnostico_id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BIGINT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83875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nome_sensor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VARCHAR(50)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status_sensor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ENUM('OK', 'Degradado', 'Falha')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83875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taxa_erros_pct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DECIMAL(5, 3)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cod_falha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VARCHAR(20)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temp_operacao_c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DECIMAL(4, 1)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254000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fk_Telemetrias_leitura_id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BIGINT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20" name="Google Shape;220;p2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15968"/>
                </a:solidFill>
              </a:rPr>
              <a:t>Para os teste dos bancos de dados foram realizadas as seguintes operações:</a:t>
            </a:r>
            <a:endParaRPr>
              <a:solidFill>
                <a:srgbClr val="215968"/>
              </a:solidFill>
            </a:endParaRPr>
          </a:p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Inserção</a:t>
            </a:r>
            <a:endParaRPr>
              <a:solidFill>
                <a:srgbClr val="215968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Busca</a:t>
            </a:r>
            <a:endParaRPr>
              <a:solidFill>
                <a:srgbClr val="215968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Atualização</a:t>
            </a:r>
            <a:endParaRPr>
              <a:solidFill>
                <a:srgbClr val="215968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Exclusão</a:t>
            </a:r>
            <a:endParaRPr>
              <a:solidFill>
                <a:srgbClr val="21596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600"/>
              <a:buChar char="•"/>
            </a:pPr>
            <a:r>
              <a:rPr lang="en-US">
                <a:solidFill>
                  <a:srgbClr val="215968"/>
                </a:solidFill>
              </a:rPr>
              <a:t>Inserção: os dados foram gerados com valores aleatórios pelas bibliotecas faker e random na linguagem Python.</a:t>
            </a:r>
            <a:endParaRPr sz="3600">
              <a:solidFill>
                <a:srgbClr val="215968"/>
              </a:solidFill>
            </a:endParaRPr>
          </a:p>
        </p:txBody>
      </p:sp>
      <p:graphicFrame>
        <p:nvGraphicFramePr>
          <p:cNvPr id="231" name="Google Shape;231;p29"/>
          <p:cNvGraphicFramePr/>
          <p:nvPr/>
        </p:nvGraphicFramePr>
        <p:xfrm>
          <a:off x="1706400" y="35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997400"/>
                <a:gridCol w="913000"/>
                <a:gridCol w="985350"/>
                <a:gridCol w="925050"/>
                <a:gridCol w="991375"/>
                <a:gridCol w="919025"/>
              </a:tblGrid>
              <a:tr h="3403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Inserção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Quantidade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Tempo em segundos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4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3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veiculos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eiculos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5000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5000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0.0330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0.2747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03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Configuracao_Sensores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1.7079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3403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telemetrias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Telemetrias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50000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50000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0.3980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1.0514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3102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Diagnostico_Sensores</a:t>
                      </a:r>
                      <a:endParaRPr b="1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400000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8.0260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37" name="Google Shape;237;p30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39" name="Google Shape;239;p3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457200" y="1600200"/>
            <a:ext cx="8229600" cy="4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04018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•"/>
            </a:pPr>
            <a:r>
              <a:rPr lang="en-US" sz="3250">
                <a:solidFill>
                  <a:srgbClr val="215968"/>
                </a:solidFill>
              </a:rPr>
              <a:t>Busca: para as buscas, foram respondidas as seguintes 5 perguntas:</a:t>
            </a:r>
            <a:endParaRPr sz="3250">
              <a:solidFill>
                <a:srgbClr val="215968"/>
              </a:solidFill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215968"/>
              </a:solidFill>
            </a:endParaRPr>
          </a:p>
          <a:p>
            <a:pPr indent="-379730" lvl="1" marL="914400" rtl="0" algn="l">
              <a:spcBef>
                <a:spcPts val="56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–"/>
            </a:pPr>
            <a:r>
              <a:rPr lang="en-US">
                <a:solidFill>
                  <a:srgbClr val="215968"/>
                </a:solidFill>
              </a:rPr>
              <a:t>Qual é a taxa de erro média dos sensores LiDAR instalados em veículos de Nível SAE 4 que estão operando em velocidade superior a 80 km/h e qual a porcentagem desses sensores que atingiu o status "Degradado" na última hora?</a:t>
            </a:r>
            <a:endParaRPr>
              <a:solidFill>
                <a:srgbClr val="215968"/>
              </a:solidFill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–"/>
            </a:pPr>
            <a:r>
              <a:rPr lang="en-US">
                <a:solidFill>
                  <a:srgbClr val="215968"/>
                </a:solidFill>
              </a:rPr>
              <a:t>Qual a quantidade total de veículos que tiveram qualquer sensor LiDAR com erro alto (&gt; 0.1%) nas últimas 24 horas?</a:t>
            </a:r>
            <a:endParaRPr>
              <a:solidFill>
                <a:srgbClr val="215968"/>
              </a:solidFill>
            </a:endParaRPr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ct val="100000"/>
              <a:buChar char="–"/>
            </a:pPr>
            <a:r>
              <a:rPr lang="en-US">
                <a:solidFill>
                  <a:srgbClr val="215968"/>
                </a:solidFill>
              </a:rPr>
              <a:t>Dado um código de falha crítico (CAM_E01), qual é o VIN do veículo, o modelo e a localização GPS exata da leitura onde a falha foi registrada pela primeira vez, e há quanto tempo o veículo estava em operação (tempo_ativo_segundos) quando isso ocorreu?</a:t>
            </a:r>
            <a:endParaRPr>
              <a:solidFill>
                <a:srgbClr val="21596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46" name="Google Shape;246;p31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457200" y="1600200"/>
            <a:ext cx="8229600" cy="4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34975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50"/>
              <a:buChar char="•"/>
            </a:pPr>
            <a:r>
              <a:rPr lang="en-US" sz="3250">
                <a:solidFill>
                  <a:srgbClr val="215968"/>
                </a:solidFill>
              </a:rPr>
              <a:t>Busca: para as buscas, foram respondidas as seguintes 5 perguntas:</a:t>
            </a:r>
            <a:endParaRPr sz="3250">
              <a:solidFill>
                <a:srgbClr val="215968"/>
              </a:solidFill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56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Qual é a Taxa de Falha Crítica por Quilometragem Rodada (Falhas/1000 km) para veículos fabricados antes de 2023-01-01, comparada aos modelos fabricados posteriormente?</a:t>
            </a:r>
            <a:endParaRPr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Quais são os 5 sensores que mais frequentemente reportam temperatura de operação acima de 70°C e em que marcas de veículos esses sensores estão predominantemente instalados?</a:t>
            </a:r>
            <a:endParaRPr>
              <a:solidFill>
                <a:srgbClr val="21596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55" name="Google Shape;255;p32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57" name="Google Shape;257;p32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600"/>
              <a:buChar char="•"/>
            </a:pPr>
            <a:r>
              <a:rPr lang="en-US">
                <a:solidFill>
                  <a:srgbClr val="215968"/>
                </a:solidFill>
              </a:rPr>
              <a:t>Busca:</a:t>
            </a:r>
            <a:endParaRPr sz="3600">
              <a:solidFill>
                <a:srgbClr val="215968"/>
              </a:solidFill>
            </a:endParaRPr>
          </a:p>
        </p:txBody>
      </p:sp>
      <p:graphicFrame>
        <p:nvGraphicFramePr>
          <p:cNvPr id="259" name="Google Shape;259;p32"/>
          <p:cNvGraphicFramePr/>
          <p:nvPr/>
        </p:nvGraphicFramePr>
        <p:xfrm>
          <a:off x="1706400" y="30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910400"/>
                <a:gridCol w="1910400"/>
                <a:gridCol w="1910400"/>
              </a:tblGrid>
              <a:tr h="127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Pergunta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Tempo em segundos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0.0961</a:t>
                      </a:r>
                      <a:endParaRPr b="1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0.2697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0.0350</a:t>
                      </a:r>
                      <a:endParaRPr b="1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0.2200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0.4230</a:t>
                      </a:r>
                      <a:endParaRPr b="1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0.2590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2.6710</a:t>
                      </a:r>
                      <a:endParaRPr b="1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32.8499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0.9049</a:t>
                      </a:r>
                      <a:endParaRPr b="1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0.3670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67" name="Google Shape;267;p3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68" name="Google Shape;268;p33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Atualização: para as atualizações, foram feitas as seguintes alterações:</a:t>
            </a:r>
            <a:endParaRPr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Para todos os veículos de nível de autonomia 3, atualize o nível para 4. (Simulando uma atualização de software)</a:t>
            </a:r>
            <a:endParaRPr>
              <a:solidFill>
                <a:srgbClr val="215968"/>
              </a:solidFill>
            </a:endParaRPr>
          </a:p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56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Atualiza todas as telemetrias da última hora onde o status do LiDAR_360 é 'Degradado' para 'OK'. (Apenas a fins demonstrativos)</a:t>
            </a:r>
            <a:endParaRPr>
              <a:solidFill>
                <a:srgbClr val="215968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5" name="Google Shape;275;p34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76" name="Google Shape;276;p3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Atualização:</a:t>
            </a:r>
            <a:endParaRPr>
              <a:solidFill>
                <a:srgbClr val="215968"/>
              </a:solidFill>
            </a:endParaRPr>
          </a:p>
        </p:txBody>
      </p:sp>
      <p:graphicFrame>
        <p:nvGraphicFramePr>
          <p:cNvPr id="278" name="Google Shape;278;p34"/>
          <p:cNvGraphicFramePr/>
          <p:nvPr/>
        </p:nvGraphicFramePr>
        <p:xfrm>
          <a:off x="1706400" y="355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146250"/>
                <a:gridCol w="1146250"/>
                <a:gridCol w="1146250"/>
                <a:gridCol w="1146250"/>
                <a:gridCol w="1146250"/>
              </a:tblGrid>
              <a:tr h="127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Atualização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Quantidade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Tempo em segundos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1639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1639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0.0260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0.0180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0.1180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0.5620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84" name="Google Shape;284;p35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5" name="Google Shape;285;p35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86" name="Google Shape;286;p35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600"/>
              <a:buChar char="•"/>
            </a:pPr>
            <a:r>
              <a:rPr lang="en-US">
                <a:solidFill>
                  <a:srgbClr val="215968"/>
                </a:solidFill>
              </a:rPr>
              <a:t>Remoção: para as remoções, dados foram removidos pelas seguintes regras</a:t>
            </a:r>
            <a:endParaRPr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Remove as leituras feitas a mais de 30 dias na coleção telemetrias. (Simulando uma política de retenção de dados periódicos)</a:t>
            </a:r>
            <a:endParaRPr>
              <a:solidFill>
                <a:srgbClr val="215968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215968"/>
              </a:buClr>
              <a:buSzPts val="2800"/>
              <a:buChar char="–"/>
            </a:pPr>
            <a:r>
              <a:rPr lang="en-US">
                <a:solidFill>
                  <a:srgbClr val="215968"/>
                </a:solidFill>
              </a:rPr>
              <a:t>Remove todos os veículos com tipo_propulsao: "Combustao" e suas telemetrias associadas. (Simulando fim do suporte para esse tipo de veículo)</a:t>
            </a:r>
            <a:endParaRPr>
              <a:solidFill>
                <a:srgbClr val="215968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Operações sobre o banco de dados</a:t>
            </a:r>
            <a:endParaRPr/>
          </a:p>
        </p:txBody>
      </p:sp>
      <p:sp>
        <p:nvSpPr>
          <p:cNvPr id="293" name="Google Shape;293;p36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36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295" name="Google Shape;295;p36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96" name="Google Shape;296;p36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rgbClr val="215968"/>
              </a:buClr>
              <a:buSzPts val="3200"/>
              <a:buChar char="•"/>
            </a:pPr>
            <a:r>
              <a:rPr lang="en-US">
                <a:solidFill>
                  <a:srgbClr val="215968"/>
                </a:solidFill>
              </a:rPr>
              <a:t>Remoção:</a:t>
            </a:r>
            <a:endParaRPr>
              <a:solidFill>
                <a:srgbClr val="215968"/>
              </a:solidFill>
            </a:endParaRPr>
          </a:p>
        </p:txBody>
      </p:sp>
      <p:graphicFrame>
        <p:nvGraphicFramePr>
          <p:cNvPr id="297" name="Google Shape;297;p36"/>
          <p:cNvGraphicFramePr/>
          <p:nvPr/>
        </p:nvGraphicFramePr>
        <p:xfrm>
          <a:off x="1706400" y="300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{443A00B4-C3E9-40C0-BD80-621ED19D6759}</a:tableStyleId>
              </a:tblPr>
              <a:tblGrid>
                <a:gridCol w="1146250"/>
                <a:gridCol w="1146250"/>
                <a:gridCol w="1327100"/>
                <a:gridCol w="1046275"/>
                <a:gridCol w="1065375"/>
              </a:tblGrid>
              <a:tr h="127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Remoção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Quantidade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Tempo em segundos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MongoDB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MySQL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45810</a:t>
                      </a:r>
                      <a:endParaRPr b="1"/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45810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0.3960</a:t>
                      </a:r>
                      <a:endParaRPr b="1"/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7.4754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1664+1367</a:t>
                      </a:r>
                      <a:endParaRPr b="1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1664+Cascata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0.0410</a:t>
                      </a:r>
                      <a:endParaRPr b="1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8.3259</a:t>
                      </a:r>
                      <a:endParaRPr b="1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179387" y="188912"/>
            <a:ext cx="6192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Conclusão</a:t>
            </a:r>
            <a:endParaRPr/>
          </a:p>
        </p:txBody>
      </p:sp>
      <p:sp>
        <p:nvSpPr>
          <p:cNvPr id="303" name="Google Shape;303;p37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Pós-graduação em Internet das Coisas</a:t>
            </a:r>
            <a:endParaRPr/>
          </a:p>
        </p:txBody>
      </p:sp>
      <p:sp>
        <p:nvSpPr>
          <p:cNvPr id="305" name="Google Shape;305;p3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457200" y="1600200"/>
            <a:ext cx="82296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15968"/>
                </a:solidFill>
              </a:rPr>
              <a:t>	Para os dados resultados, fica evidente a superioridade do MongoDB e a abordagem NoSQL em relação ao MySQL com a abordagem SQL para esse projeto, o que já era esperado, considerando principalmente a natureza volumosa dos dados, que evidenciado pelos tempos foi mais eficiente no MongoDB.</a:t>
            </a:r>
            <a:endParaRPr>
              <a:solidFill>
                <a:srgbClr val="21596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ipo_curso_internet_coisas_cor.png" id="311" name="Google Shape;3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25" y="115887"/>
            <a:ext cx="246697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8"/>
          <p:cNvSpPr txBox="1"/>
          <p:nvPr/>
        </p:nvSpPr>
        <p:spPr>
          <a:xfrm>
            <a:off x="269875" y="2133600"/>
            <a:ext cx="87852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/>
          </a:p>
        </p:txBody>
      </p:sp>
      <p:sp>
        <p:nvSpPr>
          <p:cNvPr id="313" name="Google Shape;313;p38"/>
          <p:cNvSpPr txBox="1"/>
          <p:nvPr/>
        </p:nvSpPr>
        <p:spPr>
          <a:xfrm>
            <a:off x="179387" y="368300"/>
            <a:ext cx="388778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C090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rgbClr val="FAC090"/>
                </a:solidFill>
                <a:latin typeface="Calibri"/>
                <a:ea typeface="Calibri"/>
                <a:cs typeface="Calibri"/>
                <a:sym typeface="Calibri"/>
              </a:rPr>
              <a:t>Curso de Mestrado em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C090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rgbClr val="FAC090"/>
                </a:solidFill>
                <a:latin typeface="Calibri"/>
                <a:ea typeface="Calibri"/>
                <a:cs typeface="Calibri"/>
                <a:sym typeface="Calibri"/>
              </a:rPr>
              <a:t>Internet das Coisas do Campus Leopoldina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